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.png"/><Relationship Id="rId14" Type="http://schemas.openxmlformats.org/officeDocument/2006/relationships/image" Target="../media/image-5-2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524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619" y="1116360"/>
            <a:ext cx="766762" cy="8143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977256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σ SIGMA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496119" y="2183457"/>
            <a:ext cx="815176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 inteligente para gestão de manutenções automotivas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267519" y="2326853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Versão 1.0 — Apresentação institucional</a:t>
            </a:r>
            <a:endParaRPr lang="en-US" sz="450" dirty="0"/>
          </a:p>
        </p:txBody>
      </p:sp>
      <p:sp>
        <p:nvSpPr>
          <p:cNvPr id="7" name="Shape 3"/>
          <p:cNvSpPr/>
          <p:nvPr/>
        </p:nvSpPr>
        <p:spPr>
          <a:xfrm>
            <a:off x="496119" y="2451497"/>
            <a:ext cx="8151763" cy="9525"/>
          </a:xfrm>
          <a:prstGeom prst="roundRect">
            <a:avLst>
              <a:gd name="adj" fmla="val 50000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496119" y="2523009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Infinitus Sistemas Inteligentes Ltda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96119" y="2791271"/>
            <a:ext cx="2838376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66" y="2798192"/>
            <a:ext cx="3086919" cy="20579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76156" y="2791271"/>
            <a:ext cx="2838376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</p:txBody>
      </p:sp>
      <p:sp>
        <p:nvSpPr>
          <p:cNvPr id="12" name="Text 7"/>
          <p:cNvSpPr/>
          <p:nvPr/>
        </p:nvSpPr>
        <p:spPr>
          <a:xfrm>
            <a:off x="496119" y="4925764"/>
            <a:ext cx="8151763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54062"/>
            <a:ext cx="4722763" cy="6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Manutenção automotiva ainda depende da memória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420812" y="1140619"/>
            <a:ext cx="2384375" cy="3648819"/>
          </a:xfrm>
          <a:prstGeom prst="roundRect">
            <a:avLst>
              <a:gd name="adj" fmla="val 316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25438" y="1228874"/>
            <a:ext cx="2175123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cenário nacional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25438" y="1480617"/>
            <a:ext cx="2175123" cy="772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frota nacional supera </a:t>
            </a:r>
            <a:pPr algn="l" indent="0" marL="0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115 milhões de veículos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Proprietários e pequenos frotistas ainda gerenciam manutenções com informações dispersas, notas fiscais avulsas e lembranças imprecisas.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2377" y="2431479"/>
            <a:ext cx="2018184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Quando foi a última troca de óleo? A correia dentada já foi substituída?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25438" y="2352005"/>
            <a:ext cx="14288" cy="467767"/>
          </a:xfrm>
          <a:prstGeom prst="roundRect">
            <a:avLst>
              <a:gd name="adj" fmla="val 49998"/>
            </a:avLst>
          </a:prstGeom>
          <a:solidFill>
            <a:srgbClr val="1B1B27"/>
          </a:solidFill>
          <a:ln/>
        </p:spPr>
      </p:sp>
      <p:sp>
        <p:nvSpPr>
          <p:cNvPr id="9" name="Text 6"/>
          <p:cNvSpPr/>
          <p:nvPr/>
        </p:nvSpPr>
        <p:spPr>
          <a:xfrm>
            <a:off x="2989883" y="1228874"/>
            <a:ext cx="2233761" cy="326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Três riscos críticos da falta de rastreabilidade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9883" y="1655192"/>
            <a:ext cx="2233761" cy="9527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65946" y="1774106"/>
            <a:ext cx="193878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Falhas destrutivas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165946" y="2025848"/>
            <a:ext cx="1938784" cy="4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Componentes críticos atingem o limite sem aviso, gerando danos em cascata ao motor e à transmissão.</a:t>
            </a:r>
            <a:endParaRPr lang="en-US" sz="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89883" y="2696245"/>
            <a:ext cx="2233761" cy="9527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65946" y="2815158"/>
            <a:ext cx="193878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Problemas de segurança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165946" y="3066901"/>
            <a:ext cx="1938784" cy="4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Freios, suspensão e pneus degradados sem registro aumentam o risco de acidentes e responsabilidade civil.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89883" y="3737297"/>
            <a:ext cx="2233761" cy="95279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65946" y="3856211"/>
            <a:ext cx="193878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Desvalorização do veículo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3165946" y="4107954"/>
            <a:ext cx="1938784" cy="4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 histórico auditável, o ativo perde valor de mercado e torna-se vulnerável a negociações desfavoráveis.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Um prontuário técnico para cada veículo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81471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SIGMA transforma notas fiscais, relatos, manuais e inspeções em um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histórico técnico auditável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estruturado, pesquisável e permanente.</a:t>
            </a:r>
            <a:endParaRPr lang="en-US" sz="450" dirty="0"/>
          </a:p>
        </p:txBody>
      </p:sp>
      <p:sp>
        <p:nvSpPr>
          <p:cNvPr id="4" name="Shape 2"/>
          <p:cNvSpPr/>
          <p:nvPr/>
        </p:nvSpPr>
        <p:spPr>
          <a:xfrm>
            <a:off x="496119" y="690637"/>
            <a:ext cx="2696617" cy="397669"/>
          </a:xfrm>
          <a:prstGeom prst="roundRect">
            <a:avLst>
              <a:gd name="adj" fmla="val 655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2868" y="757386"/>
            <a:ext cx="256311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Preservar o ativo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62868" y="872877"/>
            <a:ext cx="2563118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Antecipar falhas críticas antes que se tornem danos irreversíveis, estendendo a vida útil do veículo.</a:t>
            </a:r>
            <a:endParaRPr lang="en-US" sz="450" dirty="0"/>
          </a:p>
        </p:txBody>
      </p:sp>
      <p:sp>
        <p:nvSpPr>
          <p:cNvPr id="7" name="Shape 5"/>
          <p:cNvSpPr/>
          <p:nvPr/>
        </p:nvSpPr>
        <p:spPr>
          <a:xfrm>
            <a:off x="3223692" y="690637"/>
            <a:ext cx="2696617" cy="397669"/>
          </a:xfrm>
          <a:prstGeom prst="roundRect">
            <a:avLst>
              <a:gd name="adj" fmla="val 655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0441" y="757386"/>
            <a:ext cx="256311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Controlar o investimento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3290441" y="872877"/>
            <a:ext cx="2563118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Registrar onde, quando e por que o dinheiro foi aplicado em manutenção, com rastreabilidade total.</a:t>
            </a:r>
            <a:endParaRPr lang="en-US" sz="450" dirty="0"/>
          </a:p>
        </p:txBody>
      </p:sp>
      <p:sp>
        <p:nvSpPr>
          <p:cNvPr id="10" name="Shape 8"/>
          <p:cNvSpPr/>
          <p:nvPr/>
        </p:nvSpPr>
        <p:spPr>
          <a:xfrm>
            <a:off x="5951265" y="690637"/>
            <a:ext cx="2696617" cy="397669"/>
          </a:xfrm>
          <a:prstGeom prst="roundRect">
            <a:avLst>
              <a:gd name="adj" fmla="val 655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8014" y="757386"/>
            <a:ext cx="256311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Atender múltiplos perfis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018014" y="872877"/>
            <a:ext cx="2563118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Proprietários individuais, pequenos frotistas, motoristas de aplicativo, famílias e compradores de seminovos.</a:t>
            </a:r>
            <a:endParaRPr lang="en-US" sz="450" dirty="0"/>
          </a:p>
        </p:txBody>
      </p:sp>
      <p:sp>
        <p:nvSpPr>
          <p:cNvPr id="13" name="Shape 11"/>
          <p:cNvSpPr/>
          <p:nvPr/>
        </p:nvSpPr>
        <p:spPr>
          <a:xfrm>
            <a:off x="496119" y="1123131"/>
            <a:ext cx="8151763" cy="164157"/>
          </a:xfrm>
          <a:prstGeom prst="roundRect">
            <a:avLst>
              <a:gd name="adj" fmla="val 15869"/>
            </a:avLst>
          </a:prstGeom>
          <a:solidFill>
            <a:srgbClr val="E1E1E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105" y="1169566"/>
            <a:ext cx="77465" cy="6198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97557" y="1169566"/>
            <a:ext cx="8345537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SIGMA não substitui a perícia presencial — atua como ferramenta consultiva e de rastreabilidade para apoiar decisões técnicas e financeiras.</a:t>
            </a:r>
            <a:endParaRPr lang="en-US" sz="4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322115"/>
            <a:ext cx="6477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2145"/>
            <a:ext cx="8151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Visão geral da saúde do veículo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876226"/>
            <a:ext cx="86089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painel central do SIGMA consolida a identidade e o estado técnico do veículo em uma única interface estruturada.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64146"/>
            <a:ext cx="393873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Identificação completa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1554361"/>
            <a:ext cx="224805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96119" y="1731094"/>
            <a:ext cx="3938736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1815852"/>
            <a:ext cx="393873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Dados cadastrais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2093342"/>
            <a:ext cx="39387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Marca, modelo, ano, combustível, placa e tipo de câmbio registrados no prontuário.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6119" y="2622426"/>
            <a:ext cx="224805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6119" y="2799159"/>
            <a:ext cx="3938736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496119" y="2883917"/>
            <a:ext cx="393873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Hodômetro interativo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161407"/>
            <a:ext cx="39387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Atualização rápida da quilometragem para recalibrar todos os alertas e prazos do plano prescritivo.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6119" y="3690491"/>
            <a:ext cx="224805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6119" y="3867224"/>
            <a:ext cx="3938736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3951982"/>
            <a:ext cx="393873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Score de saúde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4229472"/>
            <a:ext cx="39387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Índice de 0 a 100 com classificação visual em verde, âmbar ou vermelho conforme o estado geral.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32945" y="1162273"/>
            <a:ext cx="4100661" cy="3609008"/>
          </a:xfrm>
          <a:prstGeom prst="roundRect">
            <a:avLst>
              <a:gd name="adj" fmla="val 224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745310" y="1264146"/>
            <a:ext cx="387593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Semáforo de componentes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45310" y="1554361"/>
            <a:ext cx="3875931" cy="1528316"/>
          </a:xfrm>
          <a:prstGeom prst="roundRect">
            <a:avLst>
              <a:gd name="adj" fmla="val 308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0073" y="1559123"/>
            <a:ext cx="1933203" cy="845121"/>
          </a:xfrm>
          <a:custGeom>
            <a:avLst/>
            <a:gdLst/>
            <a:ahLst/>
            <a:cxnLst/>
            <a:rect l="l" t="t" r="r" b="b"/>
            <a:pathLst>
              <a:path w="1933203" h="845121">
                <a:moveTo>
                  <a:pt x="39346" y="0"/>
                </a:moveTo>
                <a:lnTo>
                  <a:pt x="1933203" y="0"/>
                </a:lnTo>
                <a:lnTo>
                  <a:pt x="1933203" y="845121"/>
                </a:lnTo>
                <a:lnTo>
                  <a:pt x="0" y="845121"/>
                </a:lnTo>
                <a:lnTo>
                  <a:pt x="0" y="39346"/>
                </a:lnTo>
                <a:arcTo hR="39346" wR="3934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21" name="Text 19"/>
          <p:cNvSpPr/>
          <p:nvPr/>
        </p:nvSpPr>
        <p:spPr>
          <a:xfrm>
            <a:off x="4862438" y="1671489"/>
            <a:ext cx="1708472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Em dia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2438" y="1948979"/>
            <a:ext cx="17084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Itens dentro do prazo de quilometragem e tempo.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83276" y="1559123"/>
            <a:ext cx="1933203" cy="845121"/>
          </a:xfrm>
          <a:custGeom>
            <a:avLst/>
            <a:gdLst/>
            <a:ahLst/>
            <a:cxnLst/>
            <a:rect l="l" t="t" r="r" b="b"/>
            <a:pathLst>
              <a:path w="1933203" h="845121">
                <a:moveTo>
                  <a:pt x="0" y="0"/>
                </a:moveTo>
                <a:lnTo>
                  <a:pt x="1893857" y="0"/>
                </a:lnTo>
                <a:arcTo hR="39346" wR="39346" stAng="16200000" swAng="5400000"/>
                <a:lnTo>
                  <a:pt x="1933203" y="845121"/>
                </a:lnTo>
                <a:lnTo>
                  <a:pt x="0" y="845121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24" name="Shape 22"/>
          <p:cNvSpPr/>
          <p:nvPr/>
        </p:nvSpPr>
        <p:spPr>
          <a:xfrm>
            <a:off x="6683276" y="1559123"/>
            <a:ext cx="14288" cy="845121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25" name="Text 23"/>
          <p:cNvSpPr/>
          <p:nvPr/>
        </p:nvSpPr>
        <p:spPr>
          <a:xfrm>
            <a:off x="6795641" y="1671489"/>
            <a:ext cx="1708472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🟡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Atenção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95641" y="1948979"/>
            <a:ext cx="17084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Itens próximos ao vencimento que exigem agendamento.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0073" y="2404244"/>
            <a:ext cx="3866406" cy="673671"/>
          </a:xfrm>
          <a:custGeom>
            <a:avLst/>
            <a:gdLst/>
            <a:ahLst/>
            <a:cxnLst/>
            <a:rect l="l" t="t" r="r" b="b"/>
            <a:pathLst>
              <a:path w="3866406" h="673671">
                <a:moveTo>
                  <a:pt x="0" y="0"/>
                </a:moveTo>
                <a:lnTo>
                  <a:pt x="3866406" y="0"/>
                </a:lnTo>
                <a:lnTo>
                  <a:pt x="3866406" y="634324"/>
                </a:lnTo>
                <a:arcTo hR="39346" wR="39346" stAng="0" swAng="5400000"/>
                <a:lnTo>
                  <a:pt x="39346" y="673671"/>
                </a:lnTo>
                <a:arcTo hR="39346" wR="3934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0073" y="2404244"/>
            <a:ext cx="3866406" cy="14288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29" name="Text 27"/>
          <p:cNvSpPr/>
          <p:nvPr/>
        </p:nvSpPr>
        <p:spPr>
          <a:xfrm>
            <a:off x="4862438" y="2516609"/>
            <a:ext cx="3641675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Crítico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2438" y="2794099"/>
            <a:ext cx="36416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Itens vencidos ou sem comprovação documental registrada.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46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Plano mestre prescritivo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1605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coração operacional do SIGMA organiza todas as diretrizes de manutenção por subsistema, calculando automaticamente o estado de cada componente com base em quilometragem e tempo.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52501"/>
            <a:ext cx="4013895" cy="151224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0048" y="1657350"/>
            <a:ext cx="186035" cy="186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4380" y="2062832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Subsistemas cobertos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4380" y="2331095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Motor, transmissão, arrefecimento, freios, suspensão e elétrica — cada um com seus próprios intervalos e critérios de avaliação.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3987" y="1552501"/>
            <a:ext cx="4013895" cy="1512243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7917" y="1657350"/>
            <a:ext cx="186035" cy="1860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772248" y="2062832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Cálculo de fadiga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772248" y="2331095"/>
            <a:ext cx="37373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combina quilometragem acumulada e meses transcorridos para determinar o grau de desgaste de cada item, sem depender de estimativas manuais.</a:t>
            </a:r>
            <a:endParaRPr lang="en-US" sz="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188717"/>
            <a:ext cx="4013895" cy="1512243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10048" y="3293566"/>
            <a:ext cx="186035" cy="18603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34380" y="3699049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Protocolo Marco Zero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634380" y="3967311"/>
            <a:ext cx="37373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Todos os itens iniciam como críticos. São zerados somente mediante comprovação documental — nota fiscal, laudo ou registro técnico validado.</a:t>
            </a:r>
            <a:endParaRPr lang="en-US" sz="9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33987" y="3188717"/>
            <a:ext cx="4013895" cy="1512243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47917" y="3293566"/>
            <a:ext cx="186035" cy="18603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772248" y="3699049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Ingestão de manuais por IA</a:t>
            </a:r>
            <a:endParaRPr lang="en-US" sz="1200" dirty="0"/>
          </a:p>
        </p:txBody>
      </p:sp>
      <p:sp>
        <p:nvSpPr>
          <p:cNvPr id="19" name="Text 9"/>
          <p:cNvSpPr/>
          <p:nvPr/>
        </p:nvSpPr>
        <p:spPr>
          <a:xfrm>
            <a:off x="4772248" y="3967311"/>
            <a:ext cx="37373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Manuais do fabricante podem ser processados por inteligência artificial, gerando pareceres e intervalos personalizados para o veículo específico.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7548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Histórico e inteligência financeira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949300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SIGMA transforma cada intervenção em um lançamento contábil rastreável, construindo ao longo do tempo um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extrato financeiro e técnico vitalício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 veículo.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592387"/>
            <a:ext cx="3926979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Livro-razão cronológico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831" y="1904033"/>
            <a:ext cx="3941266" cy="7271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6733" y="1918320"/>
            <a:ext cx="3776365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Categorias de registro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6733" y="2229222"/>
            <a:ext cx="377636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Serviços, peças, insumos e mão de obra — cada lançamento com data, valor e estabelecimento.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2842989"/>
            <a:ext cx="3941266" cy="7271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6733" y="2857277"/>
            <a:ext cx="3776365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Deduplicação automática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6733" y="3168179"/>
            <a:ext cx="377636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detecta e previne lançamentos repetidos, garantindo a integridade do histórico financeiro.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831" y="3781946"/>
            <a:ext cx="3941266" cy="7271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6733" y="3796233"/>
            <a:ext cx="3776365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Edição segura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46733" y="4107135"/>
            <a:ext cx="377636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Registros podem ser corrigidos com rastreabilidade de alterações, preservando o histórico de auditoria.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637782" y="1472208"/>
            <a:ext cx="4102745" cy="3283744"/>
          </a:xfrm>
          <a:prstGeom prst="roundRect">
            <a:avLst>
              <a:gd name="adj" fmla="val 267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4759821" y="1592387"/>
            <a:ext cx="385866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analítico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154737" y="1960290"/>
            <a:ext cx="3463751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Análise de Pareto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154737" y="2271192"/>
            <a:ext cx="346375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 os 20% de itens que concentram 80% dos custos de manutenção.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5154737" y="2941216"/>
            <a:ext cx="3463751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Ranking de custos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154737" y="3252118"/>
            <a:ext cx="346375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 categorias de despesa por impacto financeiro acumulado.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154737" y="3922142"/>
            <a:ext cx="3463751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TCO — Custo Total de Posse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154737" y="4233044"/>
            <a:ext cx="346375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Consolida todos os gastos para revelar o custo real de manter o veículo em operação.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0536"/>
            <a:ext cx="8151763" cy="302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Diagnóstico preliminar com inteligência artificial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776957"/>
            <a:ext cx="860896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módulo de IA do SIGMA permite que o condutor descreva um sintoma com suas próprias palavras e receba uma análise estruturada cruzada com o histórico mecânico do veículo.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000125"/>
            <a:ext cx="6339185" cy="29012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6361" y="32124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6456" y="3212424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Árvore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64702" y="32124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Cruzamento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40341" y="32124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Relato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062189"/>
            <a:ext cx="3957712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que o condutor recebe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96119" y="4289301"/>
            <a:ext cx="3957712" cy="467097"/>
          </a:xfrm>
          <a:prstGeom prst="rect">
            <a:avLst/>
          </a:prstGeom>
          <a:noFill/>
          <a:ln/>
        </p:spPr>
        <p:txBody>
          <a:bodyPr wrap="square" lIns="0" tIns="38765" rIns="0" bIns="0" rtlCol="0" anchor="t">
            <a:normAutofit/>
          </a:bodyPr>
          <a:lstStyle/>
          <a:p>
            <a:pPr algn="l" marL="152400" indent="-152400">
              <a:lnSpc>
                <a:spcPct val="119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Resumo estruturado da falha provável</a:t>
            </a:r>
            <a:endParaRPr lang="en-US" sz="750" dirty="0"/>
          </a:p>
          <a:p>
            <a:pPr algn="l" marL="152400" indent="-152400">
              <a:lnSpc>
                <a:spcPct val="119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Árvore de causas com estimativas de probabilidade</a:t>
            </a:r>
            <a:endParaRPr lang="en-US" sz="750" dirty="0"/>
          </a:p>
          <a:p>
            <a:pPr algn="l" marL="152400" indent="-152400">
              <a:lnSpc>
                <a:spcPct val="119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Lista de testes físicos recomendados antes da visita à oficina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694932" y="4062189"/>
            <a:ext cx="3957712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Impacto prático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94932" y="4289301"/>
            <a:ext cx="3957712" cy="414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cliente chega à oficina mais fundamentado, reduzindo tentativas, erros e orçamentos abusivos. A IA não substitui o mecânico — ela prepara o condutor para uma conversa técnica mais qualificada.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244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Validação, auditoria e segurança jurídica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3603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SIGMA incorpora mecanismos de autenticidade e conformidade que transformam o histórico do veículo em um documento com valor probatório.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74019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139107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Pareceres técnicos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407369"/>
            <a:ext cx="39983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Mecânicos e oficinas podem registrar laudos sobre a integridade dos componentes diretamente no prontuário, com identificação e data.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1674019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9465" y="2139107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Dossiê veicular em PDF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49465" y="2407369"/>
            <a:ext cx="39984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gera um relatório completo e exportável com todo o histórico técnico e financeiro do veículo em formato padronizado.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52316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517404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Carimbo criptográfico SHA-256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6119" y="3785667"/>
            <a:ext cx="39983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dossiê recebe um hash SHA-256 que reforça a autenticidade e a imutabilidade do documento, dificultando adulterações.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465" y="3052316"/>
            <a:ext cx="310083" cy="310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9465" y="3517404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Onboarding com conformidade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49465" y="3785667"/>
            <a:ext cx="399841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processo de adesão apresenta termos de uso, caráter consultivo do sistema, responsabilidades do usuário e direitos de propriedade intelectual.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Um ecossistema conectado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96950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SIGMA cria valor para múltiplos atores do mercado automotivo, conectando proprietários, profissionais e instituições em torno de um histórico técnico compartilhado e auditável.</a:t>
            </a:r>
            <a:endParaRPr lang="en-US" sz="450" dirty="0"/>
          </a:p>
        </p:txBody>
      </p:sp>
      <p:sp>
        <p:nvSpPr>
          <p:cNvPr id="4" name="Shape 2"/>
          <p:cNvSpPr/>
          <p:nvPr/>
        </p:nvSpPr>
        <p:spPr>
          <a:xfrm>
            <a:off x="496119" y="706115"/>
            <a:ext cx="4060403" cy="323329"/>
          </a:xfrm>
          <a:prstGeom prst="roundRect">
            <a:avLst>
              <a:gd name="adj" fmla="val 805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2868" y="772864"/>
            <a:ext cx="39269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🚗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Proprietários e frotistas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62868" y="888355"/>
            <a:ext cx="392690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Ganham controle operacional e financeiro completo sobre seus veículos, com alertas proativos e histórico centralizado.</a:t>
            </a:r>
            <a:endParaRPr lang="en-US" sz="450" dirty="0"/>
          </a:p>
        </p:txBody>
      </p:sp>
      <p:sp>
        <p:nvSpPr>
          <p:cNvPr id="7" name="Shape 5"/>
          <p:cNvSpPr/>
          <p:nvPr/>
        </p:nvSpPr>
        <p:spPr>
          <a:xfrm>
            <a:off x="4587478" y="706115"/>
            <a:ext cx="4060403" cy="323329"/>
          </a:xfrm>
          <a:prstGeom prst="roundRect">
            <a:avLst>
              <a:gd name="adj" fmla="val 805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54228" y="772864"/>
            <a:ext cx="39269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🔧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Mecânicos e oficinas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654228" y="888355"/>
            <a:ext cx="392690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Recebem históricos detalhados, testes sugeridos pela IA e podem registrar laudos técnicos com validade documental.</a:t>
            </a:r>
            <a:endParaRPr lang="en-US" sz="450" dirty="0"/>
          </a:p>
        </p:txBody>
      </p:sp>
      <p:sp>
        <p:nvSpPr>
          <p:cNvPr id="10" name="Shape 8"/>
          <p:cNvSpPr/>
          <p:nvPr/>
        </p:nvSpPr>
        <p:spPr>
          <a:xfrm>
            <a:off x="496119" y="1060400"/>
            <a:ext cx="4060403" cy="323329"/>
          </a:xfrm>
          <a:prstGeom prst="roundRect">
            <a:avLst>
              <a:gd name="adj" fmla="val 805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868" y="1127150"/>
            <a:ext cx="39269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Compradores de seminovos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62868" y="1242640"/>
            <a:ext cx="392690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Acessam um dossiê auditável com hash criptográfico, reduzindo o risco de adquirir um veículo com histórico adulterado.</a:t>
            </a:r>
            <a:endParaRPr lang="en-US" sz="450" dirty="0"/>
          </a:p>
        </p:txBody>
      </p:sp>
      <p:sp>
        <p:nvSpPr>
          <p:cNvPr id="13" name="Shape 11"/>
          <p:cNvSpPr/>
          <p:nvPr/>
        </p:nvSpPr>
        <p:spPr>
          <a:xfrm>
            <a:off x="4587478" y="1060400"/>
            <a:ext cx="4060403" cy="323329"/>
          </a:xfrm>
          <a:prstGeom prst="roundRect">
            <a:avLst>
              <a:gd name="adj" fmla="val 805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28" y="1127150"/>
            <a:ext cx="39269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🏛️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Seguradoras e peritos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654228" y="1242640"/>
            <a:ext cx="392690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Validam o histórico de manutenção em casos de sinistro, com documentação rastreável e carimbo de autenticidade.</a:t>
            </a:r>
            <a:endParaRPr lang="en-US" sz="4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18555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532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Ficha técnica e proposta de valor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32433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Proposta de valor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12317"/>
            <a:ext cx="1944960" cy="11401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1530" y="1650578"/>
            <a:ext cx="161128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Diagnóstico mais eficiente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1530" y="2112690"/>
            <a:ext cx="161128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 reduz tentativas e erros na identificação de falhas.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5053" y="1512317"/>
            <a:ext cx="1944960" cy="11401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60464" y="1650578"/>
            <a:ext cx="16112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Redução de custos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760464" y="1918841"/>
            <a:ext cx="161128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TCO e análise de Pareto revelam onde cortar gastos desnecessários.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3987" y="1512317"/>
            <a:ext cx="1944960" cy="11401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29398" y="1650578"/>
            <a:ext cx="16112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Maior segurança viária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829398" y="1918841"/>
            <a:ext cx="161128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Alertas proativos evitam falhas críticas em componentes de segurança.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02921" y="1512317"/>
            <a:ext cx="1944960" cy="11401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98332" y="1650578"/>
            <a:ext cx="16112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Valorização do veículo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898332" y="1918841"/>
            <a:ext cx="161128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Dossiê auditável com hash SHA-256 comprova o histórico na revenda.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96119" y="2822972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496119" y="3054251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Contato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96119" y="343413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📧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infinitus.sistemas@gmail.com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📱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(14) 99705-7170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682154" y="4110112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σ SIGMA — Porque todo veículo merece um prontuário.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96119" y="3970586"/>
            <a:ext cx="14288" cy="477515"/>
          </a:xfrm>
          <a:prstGeom prst="roundRect">
            <a:avLst>
              <a:gd name="adj" fmla="val 49998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2026-08-16T16:05:59Z</dcterms:created>
  <dcterms:modified xsi:type="dcterms:W3CDTF">2026-08-16T16:05:59Z</dcterms:modified>
</cp:coreProperties>
</file>